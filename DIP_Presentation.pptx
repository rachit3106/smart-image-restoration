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Arial Rounded MT Bold" panose="020F0704030504030204" pitchFamily="34" charset="0"/>
      <p:regular r:id="rId14"/>
    </p:embeddedFont>
    <p:embeddedFont>
      <p:font typeface="Bahnschrift Condensed" panose="020B0502040204020203" pitchFamily="34" charset="0"/>
      <p:regular r:id="rId15"/>
      <p:bold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MuseoModerno Medium" panose="020B0604020202020204" charset="0"/>
      <p:regular r:id="rId21"/>
    </p:embeddedFont>
    <p:embeddedFont>
      <p:font typeface="Source Sans 3" panose="020B0604020202020204" charset="0"/>
      <p:regular r:id="rId22"/>
    </p:embeddedFont>
    <p:embeddedFont>
      <p:font typeface="Source Sans 3 Bold" panose="020B0604020202020204" charset="0"/>
      <p:regular r:id="rId23"/>
    </p:embeddedFont>
    <p:embeddedFont>
      <p:font typeface="Source Sans 3 Semi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61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9158-F622-25BB-88A7-084002C0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5E7C4-2BFD-793F-CF7D-9C3E1DEAF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DAB2B-A73F-FC34-A5FC-1DCA2F283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F4B1A-0875-08BA-EBA0-ED1A23373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55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91DDD2A2-B937-B293-CEB9-032D6E266539}"/>
              </a:ext>
            </a:extLst>
          </p:cNvPr>
          <p:cNvSpPr txBox="1"/>
          <p:nvPr/>
        </p:nvSpPr>
        <p:spPr>
          <a:xfrm>
            <a:off x="0" y="-1"/>
            <a:ext cx="12110936" cy="567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050" dirty="0"/>
          </a:p>
          <a:p>
            <a:pPr>
              <a:buNone/>
            </a:pPr>
            <a:endParaRPr lang="en-US" sz="1050" dirty="0"/>
          </a:p>
          <a:p>
            <a:pPr>
              <a:buNone/>
            </a:pPr>
            <a:endParaRPr lang="en-US" sz="1050" dirty="0"/>
          </a:p>
          <a:p>
            <a:pPr>
              <a:buNone/>
            </a:pPr>
            <a:endParaRPr lang="en-US" sz="1050" dirty="0"/>
          </a:p>
          <a:p>
            <a:pPr>
              <a:buNone/>
            </a:pPr>
            <a:endParaRPr lang="en-US" sz="1050" dirty="0"/>
          </a:p>
          <a:p>
            <a:pPr>
              <a:buNone/>
            </a:pPr>
            <a:endParaRPr lang="en-US" sz="1050" dirty="0"/>
          </a:p>
          <a:p>
            <a:pPr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 Thesis Defense  .  Group Project</a:t>
            </a:r>
          </a:p>
          <a:p>
            <a:pPr>
              <a:buNone/>
            </a:pPr>
            <a:r>
              <a:rPr lang="en-US" sz="7400" dirty="0">
                <a:latin typeface="Arial Rounded MT Bold" panose="020F0704030504030204" pitchFamily="34" charset="0"/>
              </a:rPr>
              <a:t>Smart Image </a:t>
            </a:r>
          </a:p>
          <a:p>
            <a:pPr>
              <a:buNone/>
            </a:pPr>
            <a:r>
              <a:rPr lang="en-US" sz="7400" dirty="0">
                <a:latin typeface="Arial Rounded MT Bold" panose="020F0704030504030204" pitchFamily="34" charset="0"/>
              </a:rPr>
              <a:t>Restoration Suite</a:t>
            </a:r>
          </a:p>
          <a:p>
            <a:pPr>
              <a:buNone/>
            </a:pPr>
            <a:r>
              <a:rPr lang="en-US" sz="1050" dirty="0">
                <a:latin typeface="Arial Rounded MT Bold" panose="020F0704030504030204" pitchFamily="34" charset="0"/>
              </a:rPr>
              <a:t>   </a:t>
            </a:r>
          </a:p>
          <a:p>
            <a:pPr>
              <a:buNone/>
            </a:pPr>
            <a:r>
              <a:rPr lang="en-US" sz="1050" dirty="0">
                <a:latin typeface="Arial Rounded MT Bold" panose="020F0704030504030204" pitchFamily="34" charset="0"/>
              </a:rPr>
              <a:t>  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Advanced Image Restoration and Enhancement using OpenCV &amp; Flask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>
                <a:latin typeface="Bahnschrift Condensed" panose="020B0502040204020203" pitchFamily="34" charset="0"/>
              </a:rPr>
              <a:t>     Group Members:-                           PRN:-</a:t>
            </a:r>
          </a:p>
          <a:p>
            <a:r>
              <a:rPr lang="en-IN" sz="2000" dirty="0">
                <a:latin typeface="Bahnschrift Condensed" panose="020B0502040204020203" pitchFamily="34" charset="0"/>
              </a:rPr>
              <a:t>1)  Rachit Deshpande                          24070123035</a:t>
            </a:r>
          </a:p>
          <a:p>
            <a:r>
              <a:rPr lang="en-IN" sz="2000" dirty="0">
                <a:latin typeface="Bahnschrift Condensed" panose="020B0502040204020203" pitchFamily="34" charset="0"/>
              </a:rPr>
              <a:t>2) Vinay Koli                                        24070123133</a:t>
            </a:r>
          </a:p>
          <a:p>
            <a:r>
              <a:rPr lang="en-IN" sz="2000" dirty="0">
                <a:latin typeface="Bahnschrift Condensed" panose="020B0502040204020203" pitchFamily="34" charset="0"/>
              </a:rPr>
              <a:t>3) Rajendra Chaganti                         24070123150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FEAA-2D50-CA51-175D-0432ACB0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F7CF24-80CD-1721-B203-434EE4563F88}"/>
              </a:ext>
            </a:extLst>
          </p:cNvPr>
          <p:cNvSpPr/>
          <p:nvPr/>
        </p:nvSpPr>
        <p:spPr>
          <a:xfrm>
            <a:off x="0" y="0"/>
            <a:ext cx="5309459" cy="6858000"/>
          </a:xfrm>
          <a:prstGeom prst="rect">
            <a:avLst/>
          </a:prstGeom>
          <a:solidFill>
            <a:srgbClr val="F1F1E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F38856-4265-15AC-8723-B3504C6CDC0F}"/>
              </a:ext>
            </a:extLst>
          </p:cNvPr>
          <p:cNvSpPr/>
          <p:nvPr/>
        </p:nvSpPr>
        <p:spPr>
          <a:xfrm>
            <a:off x="152396" y="2462312"/>
            <a:ext cx="51570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· OVERVIEW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CC175E-0E75-FB82-D75E-E8E239BB6D7C}"/>
              </a:ext>
            </a:extLst>
          </p:cNvPr>
          <p:cNvSpPr/>
          <p:nvPr/>
        </p:nvSpPr>
        <p:spPr>
          <a:xfrm>
            <a:off x="152396" y="2814042"/>
            <a:ext cx="5004667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Overview</a:t>
            </a:r>
            <a:endParaRPr lang="en-US" sz="7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6AFE16-FC98-EF88-714F-29526BE29FCF}"/>
              </a:ext>
            </a:extLst>
          </p:cNvPr>
          <p:cNvSpPr/>
          <p:nvPr/>
        </p:nvSpPr>
        <p:spPr>
          <a:xfrm>
            <a:off x="152396" y="3967758"/>
            <a:ext cx="1651356" cy="38100"/>
          </a:xfrm>
          <a:prstGeom prst="roundRect">
            <a:avLst>
              <a:gd name="adj" fmla="val 49999"/>
            </a:avLst>
          </a:prstGeom>
          <a:solidFill>
            <a:srgbClr val="325F7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06DEBA-19FE-0BBE-F03D-491A84BB3422}"/>
              </a:ext>
            </a:extLst>
          </p:cNvPr>
          <p:cNvSpPr/>
          <p:nvPr/>
        </p:nvSpPr>
        <p:spPr>
          <a:xfrm>
            <a:off x="152396" y="4209058"/>
            <a:ext cx="51570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Image Restoration and Enhancement System using OpenCV and Flask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F4558D-C9C1-E365-CB0A-1004CB748969}"/>
              </a:ext>
            </a:extLst>
          </p:cNvPr>
          <p:cNvSpPr/>
          <p:nvPr/>
        </p:nvSpPr>
        <p:spPr>
          <a:xfrm>
            <a:off x="6223737" y="64135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D7A878-5207-4C6E-8F0A-F159E9D0152B}"/>
              </a:ext>
            </a:extLst>
          </p:cNvPr>
          <p:cNvSpPr/>
          <p:nvPr/>
        </p:nvSpPr>
        <p:spPr>
          <a:xfrm>
            <a:off x="6477235" y="609600"/>
            <a:ext cx="173985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 to Digital Image Processing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814096-C941-7A0B-4953-8E64A8852648}"/>
              </a:ext>
            </a:extLst>
          </p:cNvPr>
          <p:cNvSpPr/>
          <p:nvPr/>
        </p:nvSpPr>
        <p:spPr>
          <a:xfrm>
            <a:off x="9588657" y="64135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F6AF32-B9A6-5C07-3836-1FA708869361}"/>
              </a:ext>
            </a:extLst>
          </p:cNvPr>
          <p:cNvSpPr/>
          <p:nvPr/>
        </p:nvSpPr>
        <p:spPr>
          <a:xfrm>
            <a:off x="9842155" y="609600"/>
            <a:ext cx="23495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6787BE-EEB6-CFD8-991B-87B443749449}"/>
              </a:ext>
            </a:extLst>
          </p:cNvPr>
          <p:cNvSpPr/>
          <p:nvPr/>
        </p:nvSpPr>
        <p:spPr>
          <a:xfrm>
            <a:off x="6223737" y="204341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3A3467-4C2A-1D95-0564-FBBC404E32D9}"/>
              </a:ext>
            </a:extLst>
          </p:cNvPr>
          <p:cNvSpPr/>
          <p:nvPr/>
        </p:nvSpPr>
        <p:spPr>
          <a:xfrm>
            <a:off x="6477235" y="2011660"/>
            <a:ext cx="234944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A9372D-385F-CAB7-E8DB-054D599C4DDB}"/>
              </a:ext>
            </a:extLst>
          </p:cNvPr>
          <p:cNvSpPr/>
          <p:nvPr/>
        </p:nvSpPr>
        <p:spPr>
          <a:xfrm>
            <a:off x="9588657" y="204341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C5F84C1-2D83-CBB5-4EE3-4766034A4837}"/>
              </a:ext>
            </a:extLst>
          </p:cNvPr>
          <p:cNvSpPr/>
          <p:nvPr/>
        </p:nvSpPr>
        <p:spPr>
          <a:xfrm>
            <a:off x="9842155" y="2011660"/>
            <a:ext cx="23495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Significance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C7B32F-AF7B-6C1B-2C48-F488D570B811}"/>
              </a:ext>
            </a:extLst>
          </p:cNvPr>
          <p:cNvSpPr/>
          <p:nvPr/>
        </p:nvSpPr>
        <p:spPr>
          <a:xfrm>
            <a:off x="6223737" y="344547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5BA7150-0608-0645-524F-EBEDF777F3C1}"/>
              </a:ext>
            </a:extLst>
          </p:cNvPr>
          <p:cNvSpPr/>
          <p:nvPr/>
        </p:nvSpPr>
        <p:spPr>
          <a:xfrm>
            <a:off x="6477235" y="3413720"/>
            <a:ext cx="234944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Theoretical Framework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303E3AF-2224-9888-1EDF-520E0EDEE384}"/>
              </a:ext>
            </a:extLst>
          </p:cNvPr>
          <p:cNvSpPr/>
          <p:nvPr/>
        </p:nvSpPr>
        <p:spPr>
          <a:xfrm>
            <a:off x="9588657" y="344547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6DA9536-1834-58EF-D53C-EA46D0C75EE6}"/>
              </a:ext>
            </a:extLst>
          </p:cNvPr>
          <p:cNvSpPr/>
          <p:nvPr/>
        </p:nvSpPr>
        <p:spPr>
          <a:xfrm>
            <a:off x="9842155" y="3413720"/>
            <a:ext cx="173995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Methodology and System Architecture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934634C-A8C5-57FC-6DA8-D637CE23786E}"/>
              </a:ext>
            </a:extLst>
          </p:cNvPr>
          <p:cNvSpPr/>
          <p:nvPr/>
        </p:nvSpPr>
        <p:spPr>
          <a:xfrm>
            <a:off x="6223737" y="484753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07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2FC5E0C-FFC4-40C0-25D7-E8724F483EA0}"/>
              </a:ext>
            </a:extLst>
          </p:cNvPr>
          <p:cNvSpPr/>
          <p:nvPr/>
        </p:nvSpPr>
        <p:spPr>
          <a:xfrm>
            <a:off x="6477235" y="4815780"/>
            <a:ext cx="234944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Restoration Features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CBA7E93-FC4E-FF44-A4C6-62047C9137DA}"/>
              </a:ext>
            </a:extLst>
          </p:cNvPr>
          <p:cNvSpPr/>
          <p:nvPr/>
        </p:nvSpPr>
        <p:spPr>
          <a:xfrm>
            <a:off x="9588657" y="4847530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08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CE4D482-C565-3B83-A157-9DE3258BE0FC}"/>
              </a:ext>
            </a:extLst>
          </p:cNvPr>
          <p:cNvSpPr/>
          <p:nvPr/>
        </p:nvSpPr>
        <p:spPr>
          <a:xfrm>
            <a:off x="9842155" y="4815780"/>
            <a:ext cx="23495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References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DD2ABF-6BD8-46F3-7305-38CBE3AD2E92}"/>
              </a:ext>
            </a:extLst>
          </p:cNvPr>
          <p:cNvSpPr/>
          <p:nvPr/>
        </p:nvSpPr>
        <p:spPr>
          <a:xfrm>
            <a:off x="6223737" y="6249591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09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B5E8D5-02EE-310E-3B08-C123EA8B2C6E}"/>
              </a:ext>
            </a:extLst>
          </p:cNvPr>
          <p:cNvSpPr/>
          <p:nvPr/>
        </p:nvSpPr>
        <p:spPr>
          <a:xfrm>
            <a:off x="6477235" y="6217841"/>
            <a:ext cx="173985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Evaluation and Future Scope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99FE0C-0E6B-BCE5-FF43-A759C824DAEB}"/>
              </a:ext>
            </a:extLst>
          </p:cNvPr>
          <p:cNvSpPr/>
          <p:nvPr/>
        </p:nvSpPr>
        <p:spPr>
          <a:xfrm>
            <a:off x="9588657" y="6249591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25F7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10</a:t>
            </a: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F2B6BEF-0944-F5BE-0B84-60DBE92B4A67}"/>
              </a:ext>
            </a:extLst>
          </p:cNvPr>
          <p:cNvSpPr/>
          <p:nvPr/>
        </p:nvSpPr>
        <p:spPr>
          <a:xfrm>
            <a:off x="9842155" y="6217841"/>
            <a:ext cx="23495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 and Q&amp;A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3629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9272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3703"/>
            <a:ext cx="3317693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Introduction &amp; Theoretical Foundations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199779"/>
            <a:ext cx="331769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practical restoration pipeline for recovering clarity from degraded photographs and scanned documents.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105051"/>
            <a:ext cx="3317693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context: the system addresses uneven illumination, motion blur, and unwanted intrusions that reduce legibility in real-world digital photography and document scanning.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1555" y="0"/>
            <a:ext cx="7350140" cy="6858000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7" name="Shape 5"/>
          <p:cNvSpPr/>
          <p:nvPr/>
        </p:nvSpPr>
        <p:spPr>
          <a:xfrm>
            <a:off x="4993952" y="152400"/>
            <a:ext cx="3370277" cy="3124200"/>
          </a:xfrm>
          <a:prstGeom prst="rect">
            <a:avLst/>
          </a:prstGeom>
          <a:solidFill>
            <a:srgbClr val="F1F3F4"/>
          </a:solidFill>
          <a:ln/>
        </p:spPr>
      </p:sp>
      <p:sp>
        <p:nvSpPr>
          <p:cNvPr id="8" name="Text 6"/>
          <p:cNvSpPr/>
          <p:nvPr/>
        </p:nvSpPr>
        <p:spPr>
          <a:xfrm>
            <a:off x="5146348" y="325438"/>
            <a:ext cx="306548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Spatial Filtering &amp; Enhancement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46348" y="1022350"/>
            <a:ext cx="3065485" cy="150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Units 1 &amp; 2.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Low-pass Gaussian background estimation with spatial division normalization (</a:t>
            </a:r>
            <a:r>
              <a:rPr lang="en-US" sz="1400" dirty="0">
                <a:solidFill>
                  <a:srgbClr val="00000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cv2.divide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removes shadows. Bilateral edge-preserving filters and LAB-space CLAHE restore contrast without flattening edges.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69021" y="152400"/>
            <a:ext cx="3370277" cy="3124200"/>
          </a:xfrm>
          <a:prstGeom prst="rect">
            <a:avLst/>
          </a:prstGeom>
          <a:solidFill>
            <a:srgbClr val="F1F3F4"/>
          </a:solidFill>
          <a:ln/>
        </p:spPr>
      </p:sp>
      <p:sp>
        <p:nvSpPr>
          <p:cNvPr id="11" name="Text 9"/>
          <p:cNvSpPr/>
          <p:nvPr/>
        </p:nvSpPr>
        <p:spPr>
          <a:xfrm>
            <a:off x="8821418" y="325438"/>
            <a:ext cx="306548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Frequency Domain Sharpening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21418" y="1022350"/>
            <a:ext cx="3065485" cy="1008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Unsharp masking (</a:t>
            </a:r>
            <a:r>
              <a:rPr lang="en-US" sz="1400" dirty="0">
                <a:solidFill>
                  <a:srgbClr val="00000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cv2.addWeighted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boosts high-frequency detail, making fine textures and text sharply legible after enhancement.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93952" y="3581400"/>
            <a:ext cx="3370277" cy="3124200"/>
          </a:xfrm>
          <a:prstGeom prst="rect">
            <a:avLst/>
          </a:prstGeom>
          <a:solidFill>
            <a:srgbClr val="F1F3F4"/>
          </a:solidFill>
          <a:ln/>
        </p:spPr>
      </p:sp>
      <p:sp>
        <p:nvSpPr>
          <p:cNvPr id="14" name="Text 12"/>
          <p:cNvSpPr/>
          <p:nvPr/>
        </p:nvSpPr>
        <p:spPr>
          <a:xfrm>
            <a:off x="5146348" y="3754438"/>
            <a:ext cx="306548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Morphological Operations &amp; Inpainting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46348" y="4451350"/>
            <a:ext cx="3065485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Units 4 &amp; 5.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Binary thresholding and morphological dilation refine masks; Telea's Fast Marching Method (FMM) enables seamless object removal and boundary blending.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69021" y="3581400"/>
            <a:ext cx="3370277" cy="3124200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17" name="Text 15"/>
          <p:cNvSpPr/>
          <p:nvPr/>
        </p:nvSpPr>
        <p:spPr>
          <a:xfrm>
            <a:off x="8821418" y="3754438"/>
            <a:ext cx="306548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Technical Principle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21418" y="4171950"/>
            <a:ext cx="3065485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stage separates illumination, structure, and unwanted content so the output improves visibility while preserving meaningful detail.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· PROBLEM 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4340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 Statement &amp; Technical Challenges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674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degradation classes motivate spatial filtering, frequency enhancement, and morphological processing.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3860703" cy="3276600"/>
          </a:xfrm>
          <a:prstGeom prst="rect">
            <a:avLst/>
          </a:prstGeom>
          <a:noFill/>
          <a:ln w="19050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446" y="3752850"/>
            <a:ext cx="36892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 1 · UNITS 1 &amp;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46" y="4031556"/>
            <a:ext cx="35178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Non-Uniform Illumination &amp; Shadows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1446" y="4728468"/>
            <a:ext cx="3517812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Environmental shadows and uneven lighting distort pixel intensities across documents and photographs. Global thresholding or simple histogram equalization can wash out bright regions while destroying paper texture and surface detail.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5496" y="3581400"/>
            <a:ext cx="3860703" cy="3276600"/>
          </a:xfrm>
          <a:prstGeom prst="rect">
            <a:avLst/>
          </a:prstGeom>
          <a:noFill/>
          <a:ln w="19050">
            <a:solidFill>
              <a:srgbClr val="D9D4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6942" y="3752850"/>
            <a:ext cx="36892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 2 · UNIT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36942" y="4031556"/>
            <a:ext cx="35178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Loss of Fine Texture &amp; Motion Blur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36942" y="4728468"/>
            <a:ext cx="3517812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light, camera shake, and compression reduce edge contrast, making plates, text, and fine structures unreadable. Box or averaging filters suppress noise but also blur essential high-frequency edges.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30992" y="3581400"/>
            <a:ext cx="3860703" cy="3276600"/>
          </a:xfrm>
          <a:prstGeom prst="rect">
            <a:avLst/>
          </a:prstGeom>
          <a:noFill/>
          <a:ln w="19050">
            <a:solidFill>
              <a:srgbClr val="D9D4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2437" y="3752850"/>
            <a:ext cx="36892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 3 · UNITS 4 &amp; 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2437" y="4031556"/>
            <a:ext cx="35178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Intrusive Blemishes &amp; Artifact Integration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2437" y="4728468"/>
            <a:ext cx="3517812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Objects, watermarks, and defects need precise extraction and healing. Blunt patching leaves blocky artifacts, color mismatches, and visible seams that fail to follow surrounding background gradients.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· THEORETICAL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783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Theoretical Framework &amp; Algorithmic Foundations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7339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5343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theory-to-code map for restoring illumination, edges, detail, color, and damaged regions through inspectable image-processing pipelines.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585" y="1818779"/>
            <a:ext cx="3555911" cy="264537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000945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5479" y="1988006"/>
            <a:ext cx="29976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Illumination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5479" y="2295922"/>
            <a:ext cx="2997621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image = illumination × reflectance. Estimate the background with a large-kernel Gaussian blur 101×101, then use spatial division cv2.divide to normalize lighting gradients without changing surface texture.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5479" y="4125119"/>
            <a:ext cx="31500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Units 1 &amp; 2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spatial filtering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7892" y="1818779"/>
            <a:ext cx="3555911" cy="264537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11" name="Text 9"/>
          <p:cNvSpPr/>
          <p:nvPr/>
        </p:nvSpPr>
        <p:spPr>
          <a:xfrm>
            <a:off x="4470288" y="2000945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3786" y="1988006"/>
            <a:ext cx="29976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Edges &amp; detail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23786" y="2295922"/>
            <a:ext cx="2997621" cy="150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Filter: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Tomasi–Manduchi bilateral filtering suppresses noise while preserving sharp boundaries. Unsharp Masking uses cv2.addWeightage to reinforce high-frequency detail; CLAHE in </a:t>
            </a:r>
            <a:r>
              <a:rPr lang="en-US" sz="1400" dirty="0">
                <a:solidFill>
                  <a:srgbClr val="00000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balances local contrast.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23786" y="3888978"/>
            <a:ext cx="31500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Unit 2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edge-preserving and frequency enhancement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26199" y="1818779"/>
            <a:ext cx="3555911" cy="264537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8178595" y="2000945"/>
            <a:ext cx="7920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2093" y="1988006"/>
            <a:ext cx="29976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Morphology &amp; PDE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2093" y="2295922"/>
            <a:ext cx="2997621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Repair: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binary thresholding isolates blemishes; morphological dilation via cv2.dilate expands the target mask. Telea’s Fast Marching Method solves the Eikonal equation, propagating boundary gradients inward for seamless hole-filling.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2093" y="4125119"/>
            <a:ext cx="31500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Units 4 &amp; 5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masks and inpainting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· 1ST 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783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Feature 1: Natural Shadow Removal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7339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Literature baseline vs. our custom implementation for shadow-aware normalization.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80989"/>
            <a:ext cx="5410065" cy="3140273"/>
          </a:xfrm>
          <a:prstGeom prst="rect">
            <a:avLst/>
          </a:prstGeom>
          <a:solidFill>
            <a:srgbClr val="E7EAEC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033389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LITERATURE · UNITS 1 &amp;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1981" y="2308285"/>
            <a:ext cx="510527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Model + Mechanics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1981" y="2616200"/>
            <a:ext cx="5105272" cy="1916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Grounded in the </a:t>
            </a: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Simple Image Model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separate illumination from reflectance, then apply spatial filtering and contrast enhancement.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Low-pass field: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background = cv2.GaussianBlur(…) with a large </a:t>
            </a: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101x101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kernel isolates slow ambient-shadow gradients from surface texture.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Normalization: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normalized = cv2.divide(…) performs pixel-wise image division to lift deep shadows across non-uniform lighting.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046" y="1880989"/>
            <a:ext cx="5410065" cy="3140273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2" y="2033389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CUSTOM IMPLEMENTATION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442" y="2308285"/>
            <a:ext cx="510527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Beyond background division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24442" y="2616200"/>
            <a:ext cx="5105272" cy="225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Division-only methods can desaturate colors, wash out text contrast, destroy micro-textures, and introduce boundary halo artifacts.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Stage 1 · Normalize: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retain the literature-grounded Gaussian background estimate and cv2.divide correction.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Stage 2 · Refine: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add edge-preserving </a:t>
            </a: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bilateral filtering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then boost HSV saturation by </a:t>
            </a: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1.3x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restore color fidelity.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Stage 3 · Recover: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apply targeted </a:t>
            </a: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CLAHE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the HSV </a:t>
            </a: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Value (V)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channel, recovering shadow detail while reducing halo distortion.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5180013"/>
            <a:ext cx="10972526" cy="802481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761981" y="5332413"/>
            <a:ext cx="106677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Design principle: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illumination is corrected as a slowly varying component, while reflectance, text edges, and fine surface texture remain visually stable.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· 2ND 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783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Feature 2: High-Clarity Image Enhancement &amp; Sharpening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92037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5343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 2 alignment: contrast enhancement, spatial filtering, and image restoration — with frequency-based edge definition.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585" y="2234009"/>
            <a:ext cx="4328012" cy="3862784"/>
          </a:xfrm>
          <a:prstGeom prst="rect">
            <a:avLst/>
          </a:prstGeom>
          <a:solidFill>
            <a:srgbClr val="EEF1F1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403237"/>
            <a:ext cx="40232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Standard literature baseline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1981" y="2711152"/>
            <a:ext cx="4023220" cy="1588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Linear spatial filters such as box or averaging filters suppress noise, but can blur sharp edges.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histogram equalization may amplify low-light grain and distracting artifacts.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trade-offs can reduce the readability of text, license plates, and micro-textures.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89894" y="2234009"/>
            <a:ext cx="6492216" cy="3862784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9" name="Text 7"/>
          <p:cNvSpPr/>
          <p:nvPr/>
        </p:nvSpPr>
        <p:spPr>
          <a:xfrm>
            <a:off x="5242290" y="2403237"/>
            <a:ext cx="61874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Our custom multi-stage implementation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42290" y="2711152"/>
            <a:ext cx="1960811" cy="2772668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11" name="Text 9"/>
          <p:cNvSpPr/>
          <p:nvPr/>
        </p:nvSpPr>
        <p:spPr>
          <a:xfrm>
            <a:off x="5394686" y="2880380"/>
            <a:ext cx="165601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Denoise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686" y="3188295"/>
            <a:ext cx="1656019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Edge-preserving bilateral filter: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d=7, sigma=50 suppresses low-light grain while guarding structural boundaries.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55497" y="2956580"/>
            <a:ext cx="196091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Sharpen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55497" y="3264495"/>
            <a:ext cx="1960910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Unsharp masking: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frequency-domain detail from Gaussian subtraction is added with </a:t>
            </a: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cv2.addWeighted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scale 2.2 to recover edge crispness.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68804" y="2956580"/>
            <a:ext cx="196081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Contrast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68804" y="3264495"/>
            <a:ext cx="1960811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LAB-space tuning: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high-limit CLAHE (clipLimit=3.0) runs only on the Luminance (L) channel, making fine details and text pop without chroma distortion.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42290" y="5571133"/>
            <a:ext cx="618742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Result: edge-aware smoothing + selective sharpening + isolated L-channel CLAHE improve readability without background-noise amplification or harsh halo distortions.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767835" cy="182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100" spc="62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· 3RD 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6212"/>
            <a:ext cx="1158251" cy="661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750" dirty="0">
                <a:solidFill>
                  <a:srgbClr val="735926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07</a:t>
            </a:r>
            <a:endParaRPr lang="en-US" sz="4750" dirty="0"/>
          </a:p>
        </p:txBody>
      </p:sp>
      <p:sp>
        <p:nvSpPr>
          <p:cNvPr id="4" name="Text 2"/>
          <p:cNvSpPr/>
          <p:nvPr/>
        </p:nvSpPr>
        <p:spPr>
          <a:xfrm>
            <a:off x="3291698" y="634781"/>
            <a:ext cx="8290412" cy="4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Feature 3: Object Removal &amp; Patch Inpainting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3291698" y="1177826"/>
            <a:ext cx="8899997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literature baseline extended with a custom multi-stage repair pipeline.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698" y="1576487"/>
            <a:ext cx="4068958" cy="4703366"/>
          </a:xfrm>
          <a:prstGeom prst="roundRect">
            <a:avLst>
              <a:gd name="adj" fmla="val 647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3444094" y="1728887"/>
            <a:ext cx="3916562" cy="182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100" spc="62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FOUNDATIONS &amp; MECHANICS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44094" y="1998186"/>
            <a:ext cx="3764166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Syllabus Alignment · Units 4 &amp; 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44094" y="2617887"/>
            <a:ext cx="3764166" cy="976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Grounded in segmentation, binary thresholding, and morphological image processing: neighborhood operations and region dilation define the target repair zone.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44094" y="3765569"/>
            <a:ext cx="3764166" cy="27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Mask Extraction &amp; Dilation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444094" y="4109541"/>
            <a:ext cx="3764166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User-provided masks are binarized, then expanded with </a:t>
            </a:r>
            <a:r>
              <a:rPr lang="en-US" sz="1400" dirty="0">
                <a:solidFill>
                  <a:srgbClr val="2B4150"/>
                </a:solidFill>
                <a:highlight>
                  <a:srgbClr val="E5E2D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cv2.dilate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using a 5x5 kernel to capture blemish boundaries and close small selection gaps.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4094" y="5032196"/>
            <a:ext cx="3764166" cy="27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Fast Marching Inpainting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444094" y="5376168"/>
            <a:ext cx="3764166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Alexandru Telea’s Fast Marching Method, invoked through </a:t>
            </a:r>
            <a:r>
              <a:rPr lang="en-US" sz="1400" dirty="0">
                <a:solidFill>
                  <a:srgbClr val="2B4150"/>
                </a:solidFill>
                <a:highlight>
                  <a:srgbClr val="E5E2D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cv2.INPAINT_TELEA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propagates pixel information inward from outer-boundary gradients.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13053" y="1576487"/>
            <a:ext cx="4069058" cy="4703366"/>
          </a:xfrm>
          <a:prstGeom prst="roundRect">
            <a:avLst>
              <a:gd name="adj" fmla="val 647"/>
            </a:avLst>
          </a:prstGeom>
          <a:solidFill>
            <a:srgbClr val="F3EEE3"/>
          </a:solidFill>
          <a:ln/>
        </p:spPr>
      </p:sp>
      <p:sp>
        <p:nvSpPr>
          <p:cNvPr id="15" name="Text 13"/>
          <p:cNvSpPr/>
          <p:nvPr/>
        </p:nvSpPr>
        <p:spPr>
          <a:xfrm>
            <a:off x="7665449" y="1728887"/>
            <a:ext cx="3916661" cy="182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100" spc="62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LITERATURE → OUR EXTENSION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65449" y="1998186"/>
            <a:ext cx="3764265" cy="27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Traditional Limitation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65449" y="2342158"/>
            <a:ext cx="3764265" cy="976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methods fill holes mathematically from border gradients. They can leave flat or blurry patches, lose local texture, and expose seams where the mask meets the original image.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65449" y="3489840"/>
            <a:ext cx="3764265" cy="5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Our Custom Multi-Stage Solution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65449" y="4109541"/>
            <a:ext cx="3764265" cy="976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combine precise morphological mask expansion with heavy bilateral and Gaussian filtering inside the patched zone, followed by feathered alpha-channel blending.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65449" y="5170884"/>
            <a:ext cx="3764265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result softens hard patch edges and integrates the recovered region with surrounding background texture—beyond the baseline IEEE approach.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 · LITERATURE FOUNDATION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783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Academic References &amp; Literature Foundation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7339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foundational methods underpin the restoration, smoothing, and contrast-enhancement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80989"/>
            <a:ext cx="3454314" cy="3294559"/>
          </a:xfrm>
          <a:prstGeom prst="roundRect">
            <a:avLst>
              <a:gd name="adj" fmla="val 809"/>
            </a:avLst>
          </a:prstGeom>
          <a:noFill/>
          <a:ln w="19050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30" y="2052439"/>
            <a:ext cx="32828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[1] · FMM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030" y="2331145"/>
            <a:ext cx="3111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A. Telea (2004)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1030" y="2677220"/>
            <a:ext cx="3111422" cy="2326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“An image inpainting technique based on the fast marching method,” Journal of Graphics Tools.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Introduces the Fast Marching Method to solve the Eikonal equation, propagating pixel information smoothly inward from known boundary neighborhoods. This is the mathematical backbone for object removal and hole filling.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1880989"/>
            <a:ext cx="3454314" cy="3294559"/>
          </a:xfrm>
          <a:prstGeom prst="roundRect">
            <a:avLst>
              <a:gd name="adj" fmla="val 809"/>
            </a:avLst>
          </a:prstGeom>
          <a:noFill/>
          <a:ln w="19050">
            <a:solidFill>
              <a:srgbClr val="D9D4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0136" y="2052439"/>
            <a:ext cx="32828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[2] · FILTERING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40136" y="2331145"/>
            <a:ext cx="31114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C. Tomasi &amp; R. Manduchi (1998)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40136" y="2956620"/>
            <a:ext cx="3111422" cy="1829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“Bilateral filtering for gray and color images,” IEEE ICCV.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Proposes non-linear edge-preserving smoothing by combining spatial proximity with photometric similarity. It guides noise reduction, shadow smoothing, and edge safeguarding.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1880989"/>
            <a:ext cx="3454314" cy="3294559"/>
          </a:xfrm>
          <a:prstGeom prst="roundRect">
            <a:avLst>
              <a:gd name="adj" fmla="val 809"/>
            </a:avLst>
          </a:prstGeom>
          <a:noFill/>
          <a:ln w="19050">
            <a:solidFill>
              <a:srgbClr val="D9D4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9242" y="2052439"/>
            <a:ext cx="32828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[3] · AHE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99242" y="2331145"/>
            <a:ext cx="3111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S. M. Pizer et al. (1987)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99242" y="2677220"/>
            <a:ext cx="3111422" cy="2078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140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“Adaptive histogram equalization and its variations,” Computer Vision, Graphics, and Image Processing.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Establishes localized contrast enhancement for uneven lighting across complex surfaces. It guides our CLAHE implementation in HSV and LAB for shadow and clarity tuning.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 · SYSTEM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783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Evaluation: Advantages &amp;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73398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Assessment balances practical deployment benefits against operational constraints in restoration quality, user control, and recovery of missing information.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5943451" cy="3276600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" y="3754438"/>
            <a:ext cx="563865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Advantages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396" y="4171950"/>
            <a:ext cx="5638659" cy="2085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Web Integration: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Lightweight, fully automated Flask deployment bridges complex computer-vision algorithms with an intuitive user interface.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Texture &amp; Color Preservation: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HSV saturation scaling and LAB-space CLAHE lift shadows and enhance clarity while preserving micro-textures and avoiding color burnout.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Artifact-Free Blending: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Morphological dilation, FMM inpainting, and alpha-channel feathering reduce harsh patching seams.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3581400"/>
            <a:ext cx="5943451" cy="3276600"/>
          </a:xfrm>
          <a:prstGeom prst="rect">
            <a:avLst/>
          </a:prstGeom>
          <a:solidFill>
            <a:srgbClr val="F2EF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3754438"/>
            <a:ext cx="563865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Disadvantages &amp; Limitations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640" y="4171950"/>
            <a:ext cx="5638659" cy="23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High-Zoom Blur: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Bilateral filtering and Gaussian smoothing hide patch boundaries, but can soften high-frequency texture in the inpainted region.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Mask Dependency: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Object-removal quality relies on the user-drawn selection; imprecise masks may leave residual artifacts or background bleeding.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Missing Data Cannot Be Recovered: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system cannot mathematically reconstruct entirely missing, encrypted, or severely destroyed pixel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· 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8783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7339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academically grounded, web-based restoration suite that turns core Digital Image Processing methods into practical, explainable workflows.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80989"/>
            <a:ext cx="5410065" cy="1624905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050217"/>
            <a:ext cx="510527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Project Summary &amp; Academic Alignment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1981" y="2358132"/>
            <a:ext cx="5105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and deployed with Flask and OpenCV, the suite maps Units 1, 2, 4, and 5 into one application: spatial filtering, contrast enhancement, morphology, and segmentation.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046" y="1880989"/>
            <a:ext cx="5410065" cy="1624905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2" y="2050217"/>
            <a:ext cx="510527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Beyond Baseline Literature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24442" y="2358132"/>
            <a:ext cx="510527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Hybrid pipelines extend Telea, Tomasi, and Pizer: illumination division with HSV saturation scaling; LAB-space CLAHE with unsharp masking; and Fast Marching inpainting with feathered post-patch smoothing.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3658295"/>
            <a:ext cx="5410065" cy="1376065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12" name="Text 10"/>
          <p:cNvSpPr/>
          <p:nvPr/>
        </p:nvSpPr>
        <p:spPr>
          <a:xfrm>
            <a:off x="761981" y="3827522"/>
            <a:ext cx="510527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Practical Trade-offs &amp; Insights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1981" y="4135437"/>
            <a:ext cx="5105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Automation simplifies complex cleanup, while exposing engineering limits—especially the zoom–blur trade-off introduced by post-patch texture smoothing.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046" y="3658295"/>
            <a:ext cx="5410065" cy="1376065"/>
          </a:xfrm>
          <a:prstGeom prst="rect">
            <a:avLst/>
          </a:prstGeom>
          <a:solidFill>
            <a:srgbClr val="253439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3827522"/>
            <a:ext cx="510527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24442" y="4135437"/>
            <a:ext cx="5105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ESRGAN-style deep-learning super-resolution and semantic generative inpainting to support zero-shot anomaly detection and artifact recovery.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1677</Words>
  <Application>Microsoft Office PowerPoint</Application>
  <PresentationFormat>Widescreen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MuseoModerno Medium</vt:lpstr>
      <vt:lpstr>Source Sans 3 Bold</vt:lpstr>
      <vt:lpstr>Arial</vt:lpstr>
      <vt:lpstr>Arial Rounded MT Bold</vt:lpstr>
      <vt:lpstr>Consolas</vt:lpstr>
      <vt:lpstr>Bahnschrift Condensed</vt:lpstr>
      <vt:lpstr>Source Sans 3 SemiBold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Rachit Deshpande</cp:lastModifiedBy>
  <cp:revision>2</cp:revision>
  <dcterms:created xsi:type="dcterms:W3CDTF">2026-10-08T15:58:03Z</dcterms:created>
  <dcterms:modified xsi:type="dcterms:W3CDTF">2026-10-08T16:38:12Z</dcterms:modified>
</cp:coreProperties>
</file>